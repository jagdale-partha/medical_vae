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998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8BDF8"/>
                </a:solidFill>
              </a:defRPr>
            </a:pPr>
            <a:r>
              <a:t>ENHANCED CONTEXT-ENCODING VAE (ceVAE+)</a:t>
            </a:r>
          </a:p>
          <a:p>
            <a:pPr>
              <a:spcAft>
                <a:spcPts val="1000"/>
              </a:spcAft>
              <a:defRPr sz="2800" b="1">
                <a:solidFill>
                  <a:srgbClr val="F8FAFC"/>
                </a:solidFill>
              </a:defRPr>
            </a:pPr>
            <a:r>
              <a:t>Unsupervised Anomaly Detection in Medical Imaging</a:t>
            </a:r>
          </a:p>
          <a:p>
            <a:pPr>
              <a:spcAft>
                <a:spcPts val="2400"/>
              </a:spcAft>
              <a:defRPr sz="1600">
                <a:solidFill>
                  <a:srgbClr val="FBBF24"/>
                </a:solidFill>
              </a:defRPr>
            </a:pPr>
            <a:r>
              <a:t>Research Paper Analysis, Comparative Synthesis &amp; Implementation Report</a:t>
            </a:r>
          </a:p>
          <a:p>
            <a:pPr>
              <a:spcAft>
                <a:spcPts val="1200"/>
              </a:spcAft>
              <a:defRPr sz="1300">
                <a:solidFill>
                  <a:srgbClr val="94A3B8"/>
                </a:solidFill>
              </a:defRPr>
            </a:pPr>
            <a:r>
              <a:t>Analyzed Works: Baur et al. (2020) | Zimmerer et al. (2019) | Pinaya et al. (2021) | Kumar et al. (2021)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Dataset: Official MedMNIST v2 (OrganAMNIST) &amp; High-Fidelity Brain Phantom | Framework: PyTorch &amp;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1. Fundamentals of Variational Autoencoders (VAEs)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Probabilistic Formulation &amp; Latent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Generative Model: </a:t>
            </a:r>
            <a:r>
              <a:rPr>
                <a:solidFill>
                  <a:srgbClr val="94A3B8"/>
                </a:solidFill>
              </a:rPr>
              <a:t>Learns latent distribution p(x) of healthy anatomical slices without manual labels.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Encoder q_θ(z|x): </a:t>
            </a:r>
            <a:r>
              <a:rPr>
                <a:solidFill>
                  <a:srgbClr val="94A3B8"/>
                </a:solidFill>
              </a:rPr>
              <a:t>Compresses input slice x into latent Gaussian parameters: Mean μ and Log-Variance log(σ²).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Reparameterization Trick: </a:t>
            </a:r>
            <a:r>
              <a:rPr>
                <a:solidFill>
                  <a:srgbClr val="94A3B8"/>
                </a:solidFill>
              </a:rPr>
              <a:t>Samples z = μ + σ ⊙ ε with ε ~ N(0, I) to allow continuous backpropagation.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Decoder p_φ(x|z): </a:t>
            </a:r>
            <a:r>
              <a:rPr>
                <a:solidFill>
                  <a:srgbClr val="94A3B8"/>
                </a:solidFill>
              </a:rPr>
              <a:t>Reconstructs slice x̂ from latent vector z, capturing normative anatomical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ELBO Loss &amp; UAD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Evidence Lower Bound (ELBO): </a:t>
            </a:r>
            <a:r>
              <a:rPr>
                <a:solidFill>
                  <a:srgbClr val="94A3B8"/>
                </a:solidFill>
              </a:rPr>
              <a:t>L_ELBO = E[log p_φ(x|z)] - D_KL(q_θ(z|x) || p(z)) balancing reconstruction fidelity and latent norm.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Reconstruction Loss: </a:t>
            </a:r>
            <a:r>
              <a:rPr>
                <a:solidFill>
                  <a:srgbClr val="94A3B8"/>
                </a:solidFill>
              </a:rPr>
              <a:t>Measures pixel-wise distance ||x - x̂|| between input and normative reconstruction.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KL Divergence Penalty: </a:t>
            </a:r>
            <a:r>
              <a:rPr>
                <a:solidFill>
                  <a:srgbClr val="94A3B8"/>
                </a:solidFill>
              </a:rPr>
              <a:t>Regularizes latent distribution towards standard normal prior N(0, I).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UAD Core Principle: </a:t>
            </a:r>
            <a:r>
              <a:rPr>
                <a:solidFill>
                  <a:srgbClr val="94A3B8"/>
                </a:solidFill>
              </a:rPr>
              <a:t>Trained strictly on healthy anatomy. Pathology (lesions/tumors) cannot be represented in regularized bottleneck z, producing high reconstruction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2. Paper Analysis: Baur et al. (2020) [arxiv:2004.03271]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Comparative Study on Autoencoders for 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Objective: </a:t>
            </a:r>
            <a:r>
              <a:rPr>
                <a:solidFill>
                  <a:srgbClr val="94A3B8"/>
                </a:solidFill>
              </a:rPr>
              <a:t>Establishes standardized benchmark evaluating VAEs, Spatial VAEs, AAEs, and Context Encoders on brain MRI.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Bottleneck Dilemma: </a:t>
            </a:r>
            <a:r>
              <a:rPr>
                <a:solidFill>
                  <a:srgbClr val="94A3B8"/>
                </a:solidFill>
              </a:rPr>
              <a:t>Identifies the core bottleneck capacity trade-off governing all reconstruction-based UAD models.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Dense Bottleneck Risk: </a:t>
            </a:r>
            <a:r>
              <a:rPr>
                <a:solidFill>
                  <a:srgbClr val="94A3B8"/>
                </a:solidFill>
              </a:rPr>
              <a:t>Extremely low latent dimensions cause reconstruction blur, generating false positive errors on normal tissue edges.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Spatial Skip Connection Risk: </a:t>
            </a:r>
            <a:r>
              <a:rPr>
                <a:solidFill>
                  <a:srgbClr val="94A3B8"/>
                </a:solidFill>
              </a:rPr>
              <a:t>High spatial capacity causes 'Pathology Leakage' where lesions are directly copied to reconstruction.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  <a:latin typeface="Arial"/>
              </a:defRPr>
            </a:pPr>
            <a:r>
              <a:t>Key Architectural Insights &amp;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Pathology Leakage Resolution: </a:t>
            </a:r>
            <a:r>
              <a:rPr>
                <a:solidFill>
                  <a:srgbClr val="94A3B8"/>
                </a:solidFill>
              </a:rPr>
              <a:t>Proves spatial skip connections must be strictly eliminated in UAD autoencoders.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Capacity Optimization: </a:t>
            </a:r>
            <a:r>
              <a:rPr>
                <a:solidFill>
                  <a:srgbClr val="94A3B8"/>
                </a:solidFill>
              </a:rPr>
              <a:t>Recommends dense bottlenecks (e.g. 128D) with Instance Normalization for optimal balance.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Evaluation Protocol: </a:t>
            </a:r>
            <a:r>
              <a:rPr>
                <a:solidFill>
                  <a:srgbClr val="94A3B8"/>
                </a:solidFill>
              </a:rPr>
              <a:t>Advocates dual-level evaluation: Pixel-level (AUROC/AUPRC) and Image/Slice-level detection.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Our Adoption: </a:t>
            </a:r>
            <a:r>
              <a:rPr>
                <a:solidFill>
                  <a:srgbClr val="94A3B8"/>
                </a:solidFill>
              </a:rPr>
              <a:t>We design a 4-stage encoder-decoder with dense 16,384 -&gt; 128 bottleneck and zero skip connections.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3. Paper Analysis: Zimmerer et al. (2019) [arxiv:1812.05941]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Context-encoding VAE (ceVAE)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Context Perturbation: </a:t>
            </a:r>
            <a:r>
              <a:rPr>
                <a:solidFill>
                  <a:srgbClr val="94A3B8"/>
                </a:solidFill>
              </a:rPr>
              <a:t>Applies dynamic spatial masking (inpainting) during training to force global anatomical reasoning.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Inpainting Loss: </a:t>
            </a:r>
            <a:r>
              <a:rPr>
                <a:solidFill>
                  <a:srgbClr val="94A3B8"/>
                </a:solidFill>
              </a:rPr>
              <a:t>Forces decoder to reconstruct erased regions purely from surrounding anatomical context.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Model Internal Representation: </a:t>
            </a:r>
            <a:r>
              <a:rPr>
                <a:solidFill>
                  <a:srgbClr val="94A3B8"/>
                </a:solidFill>
              </a:rPr>
              <a:t>Demonstrates that standard reconstruction error ignores internal latent gradients.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Benchmarking: </a:t>
            </a:r>
            <a:r>
              <a:rPr>
                <a:solidFill>
                  <a:srgbClr val="94A3B8"/>
                </a:solidFill>
              </a:rPr>
              <a:t>Outperforms standard VAEs on BraTS-2017 (AUROC 0.95) and ISLES-2015 (AUROC 0.89).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Dual-Scoring &amp; Autograd KL Saliency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Dual-Scoring Formulation: </a:t>
            </a:r>
            <a:r>
              <a:rPr>
                <a:solidFill>
                  <a:srgbClr val="94A3B8"/>
                </a:solidFill>
              </a:rPr>
              <a:t>A_pixel = GaussianBlur( |x - x̂| ⊙ |∂L_KL / ∂x| )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Input Autograd Saliency: </a:t>
            </a:r>
            <a:r>
              <a:rPr>
                <a:solidFill>
                  <a:srgbClr val="94A3B8"/>
                </a:solidFill>
              </a:rPr>
              <a:t>Calculates gradient of KL divergence w.r.t input pixels |∂L_KL / ∂x| via backpropagation.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False Positive Suppression: </a:t>
            </a:r>
            <a:r>
              <a:rPr>
                <a:solidFill>
                  <a:srgbClr val="94A3B8"/>
                </a:solidFill>
              </a:rPr>
              <a:t>Multiplies residual with KL saliency to suppress normal high-contrast tissue edge errors.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Our Adoption: </a:t>
            </a:r>
            <a:r>
              <a:rPr>
                <a:solidFill>
                  <a:srgbClr val="94A3B8"/>
                </a:solidFill>
              </a:rPr>
              <a:t>We implement dynamic spatial eraser + Zimmerer autograd KL saliency scorer.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4. Paper Analysis: Pinaya et al. (2021) [arxiv:2102.11650]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Transformers &amp; Discrete Latent Spaces for UAD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VQ-VAE Foundation: </a:t>
            </a:r>
            <a:r>
              <a:rPr>
                <a:solidFill>
                  <a:srgbClr val="94A3B8"/>
                </a:solidFill>
              </a:rPr>
              <a:t>Employs Vector Quantized VAE to discretize continuous latent space into codebook indices.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Autoregressive Transformer: </a:t>
            </a:r>
            <a:r>
              <a:rPr>
                <a:solidFill>
                  <a:srgbClr val="94A3B8"/>
                </a:solidFill>
              </a:rPr>
              <a:t>Trains GPT-style spatial transformer to predict discrete latent tokens.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Blur Reduction: </a:t>
            </a:r>
            <a:r>
              <a:rPr>
                <a:solidFill>
                  <a:srgbClr val="94A3B8"/>
                </a:solidFill>
              </a:rPr>
              <a:t>Discrete codebook sampling completely eliminates the blurriness of standard continuous VAEs.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Large-Scale Normative Model: </a:t>
            </a:r>
            <a:r>
              <a:rPr>
                <a:solidFill>
                  <a:srgbClr val="94A3B8"/>
                </a:solidFill>
              </a:rPr>
              <a:t>Trained on 15,000 radiologically normal participants from UK Biobank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  <a:latin typeface="Arial"/>
              </a:defRPr>
            </a:pPr>
            <a:r>
              <a:t>Trade-offs &amp; Practical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Computational Complexity: </a:t>
            </a:r>
            <a:r>
              <a:rPr>
                <a:solidFill>
                  <a:srgbClr val="94A3B8"/>
                </a:solidFill>
              </a:rPr>
              <a:t>Autoregressive token-by-token sequence generation incurs extremely high inference latency.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Data Demands: </a:t>
            </a:r>
            <a:r>
              <a:rPr>
                <a:solidFill>
                  <a:srgbClr val="94A3B8"/>
                </a:solidFill>
              </a:rPr>
              <a:t>Requires tens of thousands of training scans for stable transformer codebook convergence.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Perceptual Sharpness Alternative: </a:t>
            </a:r>
            <a:r>
              <a:rPr>
                <a:solidFill>
                  <a:srgbClr val="94A3B8"/>
                </a:solidFill>
              </a:rPr>
              <a:t>Perceptual losses (SSIM) can achieve similar structural sharpness without transformer latency.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Our Adoption: </a:t>
            </a:r>
            <a:r>
              <a:rPr>
                <a:solidFill>
                  <a:srgbClr val="94A3B8"/>
                </a:solidFill>
              </a:rPr>
              <a:t>We adopt differentiable SSIM loss (0.8 L1 + 0.2 SSIM) to preserve edge sharpness without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5. Paper Analysis: Kumar et al. (2021) [arxiv:2110.04903]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Normative Modeling via Multimodal VAEs (mmVAE)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Normative Modeling Concept: </a:t>
            </a:r>
            <a:r>
              <a:rPr>
                <a:solidFill>
                  <a:srgbClr val="94A3B8"/>
                </a:solidFill>
              </a:rPr>
              <a:t>Models individual patient structural deviations against healthy control population distributions.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Multimodal Integration: </a:t>
            </a:r>
            <a:r>
              <a:rPr>
                <a:solidFill>
                  <a:srgbClr val="94A3B8"/>
                </a:solidFill>
              </a:rPr>
              <a:t>Combines T1-weighted, T2-weighted, and FLAIR MRI modalities into joint latent representation.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Cross-Modal Joint Distribution: </a:t>
            </a:r>
            <a:r>
              <a:rPr>
                <a:solidFill>
                  <a:srgbClr val="94A3B8"/>
                </a:solidFill>
              </a:rPr>
              <a:t>Captures cross-modality structural dependencies better than single input concatenation.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Clinical Application: </a:t>
            </a:r>
            <a:r>
              <a:rPr>
                <a:solidFill>
                  <a:srgbClr val="94A3B8"/>
                </a:solidFill>
              </a:rPr>
              <a:t>Quantifies brain volume deviations across Alzheimer's Disease stages (CN, MCI, AD).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Key Takeaways &amp; Protocol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Out-of-Distribution Sensitivity: </a:t>
            </a:r>
            <a:r>
              <a:rPr>
                <a:solidFill>
                  <a:srgbClr val="94A3B8"/>
                </a:solidFill>
              </a:rPr>
              <a:t>Demonstrates higher sensitivity to subtle anatomical variations across disease stages.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Normative Training Protocol: </a:t>
            </a:r>
            <a:r>
              <a:rPr>
                <a:solidFill>
                  <a:srgbClr val="94A3B8"/>
                </a:solidFill>
              </a:rPr>
              <a:t>Training strictly on healthy control cohort enables universal detection of arbitrary pathologies.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Quantification Metrics: </a:t>
            </a:r>
            <a:r>
              <a:rPr>
                <a:solidFill>
                  <a:srgbClr val="94A3B8"/>
                </a:solidFill>
              </a:rPr>
              <a:t>Uses z-score deviation maps for patient-level cognitive correlation.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Our Adoption: </a:t>
            </a:r>
            <a:r>
              <a:rPr>
                <a:solidFill>
                  <a:srgbClr val="94A3B8"/>
                </a:solidFill>
              </a:rPr>
              <a:t>We adopt the strict Normative Protocol (train on OrganAMNIST Class 0 healthy slices).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6. Comparative Synthesis: Differences, Trade-offs &amp; Learnings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94560"/>
                <a:gridCol w="2103120"/>
                <a:gridCol w="2316175"/>
              </a:tblGrid>
              <a:tr h="95097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Research 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Core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Key Advantage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Main Limitation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Our Synthesis /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Baur et al. (2020)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Comparative VAE Study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Identified bottleneck trade-off &amp; pathology leakage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Standard VAEs suffer edge blur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Strictly zero skip connections; dense 128D bottleneck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Zimmerer et al. (2019)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ceVAE + Autograd KL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Dual-scoring with input KL gradient saliency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Sensitive to spatial mask size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Dynamic Random Spatial Eraser + Dual-Scoring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Pinaya et al. (2021)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VQ-VAE + Transformers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 structural sharpness, discrete tokens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 computational latency &amp; memory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Differentiable SSIM loss (0.8 L1 + 0.2 SSIM)</a:t>
                      </a:r>
                    </a:p>
                  </a:txBody>
                  <a:tcPr>
                    <a:solidFill>
                      <a:srgbClr val="141E2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BBF24"/>
                          </a:solidFill>
                        </a:defRPr>
                      </a:pPr>
                      <a:r>
                        <a:t>Kumar et al. (2021)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Multimodal VAE (mmVAE)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Normative joint cross-modality modeling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Requires multi-sequence registration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Strict Normative Partitioning Protocol (healthy class 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7. Our Implementation: Enhanced Context-Encoding VAE (ceVAE+)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Model Architecture &amp; Loss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Neural Architecture: </a:t>
            </a:r>
            <a:r>
              <a:rPr>
                <a:solidFill>
                  <a:srgbClr val="94A3B8"/>
                </a:solidFill>
              </a:rPr>
              <a:t>4-stage Conv downsampling, dense bottleneck (16,384 -&gt; 128), zero skip connections, bilinear upsampling decoder (7.39M params).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Dynamic Context Eraser: </a:t>
            </a:r>
            <a:r>
              <a:rPr>
                <a:solidFill>
                  <a:srgbClr val="94A3B8"/>
                </a:solidFill>
              </a:rPr>
              <a:t>RandomSpatialEraser applies 16x16 to 32x32 rectangular masks on-the-fly (p=0.7).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Perceptual Loss: </a:t>
            </a:r>
            <a:r>
              <a:rPr>
                <a:solidFill>
                  <a:srgbClr val="94A3B8"/>
                </a:solidFill>
              </a:rPr>
              <a:t>L_recon = 0.8 * L1 + 0.2 * (1 - SSIM) with differentiable 11x11 Gaussian window.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Composite Objective: </a:t>
            </a:r>
            <a:r>
              <a:rPr>
                <a:solidFill>
                  <a:srgbClr val="94A3B8"/>
                </a:solidFill>
              </a:rPr>
              <a:t>L_total = 0.5 * (L_recon(x, x̂_clean) + β * L_KL) + 0.5 * L_recon(x, x̂_inpaint) with β=0.001 warmup.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  <a:latin typeface="Arial"/>
              </a:defRPr>
            </a:pPr>
            <a:r>
              <a:t>Scoring, Benchmarks &amp;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Autograd KL Saliency: </a:t>
            </a:r>
            <a:r>
              <a:rPr>
                <a:solidFill>
                  <a:srgbClr val="94A3B8"/>
                </a:solidFill>
              </a:rPr>
              <a:t>Calculates |∂L_KL / ∂x| backpropagated to pixel space to suppress false positive edge noise.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Dual-Scoring Map: </a:t>
            </a:r>
            <a:r>
              <a:rPr>
                <a:solidFill>
                  <a:srgbClr val="94A3B8"/>
                </a:solidFill>
              </a:rPr>
              <a:t>A_pixel = GaussianBlur_σ=1.5( |x - x̂| ⊙ |∂L_KL / ∂x|_norm )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Benchmark Metrics: </a:t>
            </a:r>
            <a:r>
              <a:rPr>
                <a:solidFill>
                  <a:srgbClr val="94A3B8"/>
                </a:solidFill>
              </a:rPr>
              <a:t>Pixel-AUROC: 0.6965, Slice-AUROC: 0.7273, Optimal Theoretical Dice: 0.9101.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FastAPI Clinical App: </a:t>
            </a:r>
            <a:r>
              <a:rPr>
                <a:solidFill>
                  <a:srgbClr val="94A3B8"/>
                </a:solidFill>
              </a:rPr>
              <a:t>Interactive web visualization with 5-panel diagnostic, split wipe inspector, and 6-stage AI radiologist reasoning console.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8. System Pipeline &amp; Data Flowchart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202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STAGE 1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Input Slice (x)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1x128x128 Axial Tomography</a:t>
            </a:r>
            <a:br/>
            <a:r>
              <a:t>Normalized [0.0, 1.0]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645920"/>
            <a:ext cx="19202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82880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</a:defRPr>
            </a:pPr>
            <a:r>
              <a:t>STAGE 2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Dynamic Eraser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Random 16x16-32x32 Box</a:t>
            </a:r>
            <a:br/>
            <a:r>
              <a:t>x̃ = x ⊙ (1 - 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19202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STAGE 3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ceVAE+ Network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Dense Bottleneck (128D)</a:t>
            </a:r>
            <a:br/>
            <a:r>
              <a:t>Clean &amp; Inpaint Recons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1645920"/>
            <a:ext cx="19202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182880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</a:defRPr>
            </a:pPr>
            <a:r>
              <a:t>STAGE 4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KL Saliency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Autograd Gradient</a:t>
            </a:r>
            <a:br/>
            <a:r>
              <a:t>|∂L_KL / ∂x| Saliency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645920"/>
            <a:ext cx="192024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828800"/>
            <a:ext cx="1737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ADE80"/>
                </a:solidFill>
              </a:defRPr>
            </a:pPr>
            <a:r>
              <a:t>STAGE 5</a:t>
            </a:r>
          </a:p>
          <a:p>
            <a:pPr>
              <a:spcAft>
                <a:spcPts val="1400"/>
              </a:spcAft>
              <a:defRPr sz="1500" b="1">
                <a:solidFill>
                  <a:srgbClr val="F8FAFC"/>
                </a:solidFill>
              </a:defRPr>
            </a:pPr>
            <a:r>
              <a:t>5-Panel Diagnosis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Recon, Residual, Saliency</a:t>
            </a:r>
            <a:br/>
            <a:r>
              <a:t>Pred (Red) vs GT (Green)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BBF24"/>
                </a:solidFill>
              </a:defRPr>
            </a:pPr>
            <a:r>
              <a:t>End-to-End Pipeline: Raw Image Ingestion ➔ Dynamic Masking ➔ Dense Representation ➔ Autograd Gradient Scoring ➔ Clinical Visual Overlay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CEVAE+ RESEARCH &amp; IMPLEMENTATION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9. References &amp; Dataset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Research Paper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Baur et al. (2020): </a:t>
            </a:r>
            <a:r>
              <a:rPr>
                <a:solidFill>
                  <a:srgbClr val="94A3B8"/>
                </a:solidFill>
              </a:rPr>
              <a:t>Autoencoders for Unsupervised Anomaly Segmentation in Brain MR Images: A Comparative Study. arXiv:2004.03271.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Zimmerer et al. (2019): </a:t>
            </a:r>
            <a:r>
              <a:rPr>
                <a:solidFill>
                  <a:srgbClr val="94A3B8"/>
                </a:solidFill>
              </a:rPr>
              <a:t>Context-encoding Variational Autoencoder for Unsupervised Anomaly Detection. arXiv:1812.05941.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Pinaya et al. (2021): </a:t>
            </a:r>
            <a:r>
              <a:rPr>
                <a:solidFill>
                  <a:srgbClr val="94A3B8"/>
                </a:solidFill>
              </a:rPr>
              <a:t>Unsupervised Brain Anomaly Detection and Segmentation with Transformers. arXiv:2102.11650.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Kumar et al. (2021): </a:t>
            </a:r>
            <a:r>
              <a:rPr>
                <a:solidFill>
                  <a:srgbClr val="94A3B8"/>
                </a:solidFill>
              </a:rPr>
              <a:t>Normative Modeling using Multimodal Variational Autoencoders to Identify Abnormal Brain Structural Patterns in AD. arXiv:2110.04903.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Dataset Sources &amp; Benchmark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MedMNIST v2 (OrganAMNIST): </a:t>
            </a:r>
            <a:r>
              <a:rPr>
                <a:solidFill>
                  <a:srgbClr val="94A3B8"/>
                </a:solidFill>
              </a:rPr>
              <a:t>Official 2D axial tomography dataset containing 58,830 slices across 11 organ classes (34,561 train, 6,491 val, 17,778 test). Class 0 used as normative control.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High-Fidelity Brain Phantom: </a:t>
            </a:r>
            <a:r>
              <a:rPr>
                <a:solidFill>
                  <a:srgbClr val="94A3B8"/>
                </a:solidFill>
              </a:rPr>
              <a:t>Offline synthetic 2D axial T2-FLAIR brain MRI slices with multi-class hyperintense tissue lesions and ground-truth masks.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UK Biobank &amp; BraTS Benchmark: </a:t>
            </a:r>
            <a:r>
              <a:rPr>
                <a:solidFill>
                  <a:srgbClr val="94A3B8"/>
                </a:solidFill>
              </a:rPr>
              <a:t>Referenced in Baur et al., Zimmerer et al., and Pinaya et al. for large-scale normative baseline validation.</a:t>
            </a:r>
          </a:p>
          <a:p>
            <a:pPr>
              <a:spcAft>
                <a:spcPts val="800"/>
              </a:spcAft>
              <a:defRPr sz="1300">
                <a:latin typeface="Arial"/>
              </a:defRPr>
            </a:pPr>
            <a:r>
              <a:rPr b="1">
                <a:solidFill>
                  <a:srgbClr val="F8FAFC"/>
                </a:solidFill>
              </a:rPr>
              <a:t>• Code Repository: </a:t>
            </a:r>
            <a:r>
              <a:rPr>
                <a:solidFill>
                  <a:srgbClr val="94A3B8"/>
                </a:solidFill>
              </a:rPr>
              <a:t>Full PyTorch codebase and FastAPI web app hosted at https://github.com/Jagdale-Partha/Medical_VAE.git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